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  <p:sldId id="262" r:id="rId7"/>
    <p:sldId id="265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ary, Subah" userId="675916fe-ca20-4130-a02e-4cbb659c7647" providerId="ADAL" clId="{8605D329-4A51-498E-8269-36F126310EFE}"/>
    <pc:docChg chg="undo custSel addSld delSld modSld sldOrd">
      <pc:chgData name="Shiary, Subah" userId="675916fe-ca20-4130-a02e-4cbb659c7647" providerId="ADAL" clId="{8605D329-4A51-498E-8269-36F126310EFE}" dt="2026-08-20T12:50:46.227" v="683" actId="20577"/>
      <pc:docMkLst>
        <pc:docMk/>
      </pc:docMkLst>
      <pc:sldChg chg="modSp mod">
        <pc:chgData name="Shiary, Subah" userId="675916fe-ca20-4130-a02e-4cbb659c7647" providerId="ADAL" clId="{8605D329-4A51-498E-8269-36F126310EFE}" dt="2026-08-20T12:31:35.564" v="1" actId="20577"/>
        <pc:sldMkLst>
          <pc:docMk/>
          <pc:sldMk cId="0" sldId="256"/>
        </pc:sldMkLst>
        <pc:spChg chg="mod">
          <ac:chgData name="Shiary, Subah" userId="675916fe-ca20-4130-a02e-4cbb659c7647" providerId="ADAL" clId="{8605D329-4A51-498E-8269-36F126310EFE}" dt="2026-08-20T12:31:35.564" v="1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 ord">
        <pc:chgData name="Shiary, Subah" userId="675916fe-ca20-4130-a02e-4cbb659c7647" providerId="ADAL" clId="{8605D329-4A51-498E-8269-36F126310EFE}" dt="2026-08-20T12:46:50.618" v="509" actId="20577"/>
        <pc:sldMkLst>
          <pc:docMk/>
          <pc:sldMk cId="0" sldId="257"/>
        </pc:sldMkLst>
        <pc:spChg chg="mod">
          <ac:chgData name="Shiary, Subah" userId="675916fe-ca20-4130-a02e-4cbb659c7647" providerId="ADAL" clId="{8605D329-4A51-498E-8269-36F126310EFE}" dt="2026-08-20T12:46:50.618" v="509" actId="20577"/>
          <ac:spMkLst>
            <pc:docMk/>
            <pc:sldMk cId="0" sldId="257"/>
            <ac:spMk id="17" creationId="{00000000-0000-0000-0000-000000000000}"/>
          </ac:spMkLst>
        </pc:spChg>
      </pc:sldChg>
      <pc:sldChg chg="delSp modSp mod">
        <pc:chgData name="Shiary, Subah" userId="675916fe-ca20-4130-a02e-4cbb659c7647" providerId="ADAL" clId="{8605D329-4A51-498E-8269-36F126310EFE}" dt="2026-08-20T12:31:52.218" v="5" actId="478"/>
        <pc:sldMkLst>
          <pc:docMk/>
          <pc:sldMk cId="0" sldId="258"/>
        </pc:sldMkLst>
        <pc:spChg chg="del mod">
          <ac:chgData name="Shiary, Subah" userId="675916fe-ca20-4130-a02e-4cbb659c7647" providerId="ADAL" clId="{8605D329-4A51-498E-8269-36F126310EFE}" dt="2026-08-20T12:31:52.218" v="5" actId="478"/>
          <ac:spMkLst>
            <pc:docMk/>
            <pc:sldMk cId="0" sldId="258"/>
            <ac:spMk id="15" creationId="{00000000-0000-0000-0000-000000000000}"/>
          </ac:spMkLst>
        </pc:spChg>
      </pc:sldChg>
      <pc:sldChg chg="modSp del mod">
        <pc:chgData name="Shiary, Subah" userId="675916fe-ca20-4130-a02e-4cbb659c7647" providerId="ADAL" clId="{8605D329-4A51-498E-8269-36F126310EFE}" dt="2026-08-20T12:45:35.507" v="500" actId="47"/>
        <pc:sldMkLst>
          <pc:docMk/>
          <pc:sldMk cId="0" sldId="261"/>
        </pc:sldMkLst>
        <pc:spChg chg="mod">
          <ac:chgData name="Shiary, Subah" userId="675916fe-ca20-4130-a02e-4cbb659c7647" providerId="ADAL" clId="{8605D329-4A51-498E-8269-36F126310EFE}" dt="2026-08-20T12:32:27.975" v="70" actId="20577"/>
          <ac:spMkLst>
            <pc:docMk/>
            <pc:sldMk cId="0" sldId="261"/>
            <ac:spMk id="12" creationId="{00000000-0000-0000-0000-000000000000}"/>
          </ac:spMkLst>
        </pc:spChg>
      </pc:sldChg>
      <pc:sldChg chg="delSp modSp mod">
        <pc:chgData name="Shiary, Subah" userId="675916fe-ca20-4130-a02e-4cbb659c7647" providerId="ADAL" clId="{8605D329-4A51-498E-8269-36F126310EFE}" dt="2026-08-20T12:34:57.009" v="181"/>
        <pc:sldMkLst>
          <pc:docMk/>
          <pc:sldMk cId="0" sldId="262"/>
        </pc:sldMkLst>
        <pc:spChg chg="mod">
          <ac:chgData name="Shiary, Subah" userId="675916fe-ca20-4130-a02e-4cbb659c7647" providerId="ADAL" clId="{8605D329-4A51-498E-8269-36F126310EFE}" dt="2026-08-20T12:33:52.263" v="178" actId="20577"/>
          <ac:spMkLst>
            <pc:docMk/>
            <pc:sldMk cId="0" sldId="262"/>
            <ac:spMk id="6" creationId="{00000000-0000-0000-0000-000000000000}"/>
          </ac:spMkLst>
        </pc:spChg>
        <pc:spChg chg="del mod">
          <ac:chgData name="Shiary, Subah" userId="675916fe-ca20-4130-a02e-4cbb659c7647" providerId="ADAL" clId="{8605D329-4A51-498E-8269-36F126310EFE}" dt="2026-08-20T12:34:57.009" v="181"/>
          <ac:spMkLst>
            <pc:docMk/>
            <pc:sldMk cId="0" sldId="262"/>
            <ac:spMk id="7" creationId="{00000000-0000-0000-0000-000000000000}"/>
          </ac:spMkLst>
        </pc:spChg>
      </pc:sldChg>
      <pc:sldChg chg="modSp mod">
        <pc:chgData name="Shiary, Subah" userId="675916fe-ca20-4130-a02e-4cbb659c7647" providerId="ADAL" clId="{8605D329-4A51-498E-8269-36F126310EFE}" dt="2026-08-20T12:50:46.227" v="683" actId="20577"/>
        <pc:sldMkLst>
          <pc:docMk/>
          <pc:sldMk cId="0" sldId="263"/>
        </pc:sldMkLst>
        <pc:spChg chg="mod">
          <ac:chgData name="Shiary, Subah" userId="675916fe-ca20-4130-a02e-4cbb659c7647" providerId="ADAL" clId="{8605D329-4A51-498E-8269-36F126310EFE}" dt="2026-08-20T12:50:46.227" v="683" actId="20577"/>
          <ac:spMkLst>
            <pc:docMk/>
            <pc:sldMk cId="0" sldId="263"/>
            <ac:spMk id="8" creationId="{00000000-0000-0000-0000-000000000000}"/>
          </ac:spMkLst>
        </pc:spChg>
      </pc:sldChg>
      <pc:sldChg chg="delSp modSp mod">
        <pc:chgData name="Shiary, Subah" userId="675916fe-ca20-4130-a02e-4cbb659c7647" providerId="ADAL" clId="{8605D329-4A51-498E-8269-36F126310EFE}" dt="2026-08-20T12:49:25.956" v="632" actId="20577"/>
        <pc:sldMkLst>
          <pc:docMk/>
          <pc:sldMk cId="0" sldId="264"/>
        </pc:sldMkLst>
        <pc:spChg chg="mod">
          <ac:chgData name="Shiary, Subah" userId="675916fe-ca20-4130-a02e-4cbb659c7647" providerId="ADAL" clId="{8605D329-4A51-498E-8269-36F126310EFE}" dt="2026-08-20T12:44:44.355" v="392" actId="20577"/>
          <ac:spMkLst>
            <pc:docMk/>
            <pc:sldMk cId="0" sldId="264"/>
            <ac:spMk id="3" creationId="{00000000-0000-0000-0000-000000000000}"/>
          </ac:spMkLst>
        </pc:spChg>
        <pc:spChg chg="mod">
          <ac:chgData name="Shiary, Subah" userId="675916fe-ca20-4130-a02e-4cbb659c7647" providerId="ADAL" clId="{8605D329-4A51-498E-8269-36F126310EFE}" dt="2026-08-20T12:49:25.956" v="632" actId="20577"/>
          <ac:spMkLst>
            <pc:docMk/>
            <pc:sldMk cId="0" sldId="264"/>
            <ac:spMk id="5" creationId="{00000000-0000-0000-0000-000000000000}"/>
          </ac:spMkLst>
        </pc:spChg>
        <pc:spChg chg="del">
          <ac:chgData name="Shiary, Subah" userId="675916fe-ca20-4130-a02e-4cbb659c7647" providerId="ADAL" clId="{8605D329-4A51-498E-8269-36F126310EFE}" dt="2026-08-20T12:47:53.499" v="515" actId="478"/>
          <ac:spMkLst>
            <pc:docMk/>
            <pc:sldMk cId="0" sldId="264"/>
            <ac:spMk id="6" creationId="{00000000-0000-0000-0000-000000000000}"/>
          </ac:spMkLst>
        </pc:spChg>
        <pc:spChg chg="del mod">
          <ac:chgData name="Shiary, Subah" userId="675916fe-ca20-4130-a02e-4cbb659c7647" providerId="ADAL" clId="{8605D329-4A51-498E-8269-36F126310EFE}" dt="2026-08-20T12:47:51.697" v="514" actId="478"/>
          <ac:spMkLst>
            <pc:docMk/>
            <pc:sldMk cId="0" sldId="264"/>
            <ac:spMk id="7" creationId="{00000000-0000-0000-0000-000000000000}"/>
          </ac:spMkLst>
        </pc:spChg>
        <pc:spChg chg="del">
          <ac:chgData name="Shiary, Subah" userId="675916fe-ca20-4130-a02e-4cbb659c7647" providerId="ADAL" clId="{8605D329-4A51-498E-8269-36F126310EFE}" dt="2026-08-20T12:47:49.317" v="512" actId="478"/>
          <ac:spMkLst>
            <pc:docMk/>
            <pc:sldMk cId="0" sldId="264"/>
            <ac:spMk id="8" creationId="{00000000-0000-0000-0000-000000000000}"/>
          </ac:spMkLst>
        </pc:spChg>
        <pc:spChg chg="del mod">
          <ac:chgData name="Shiary, Subah" userId="675916fe-ca20-4130-a02e-4cbb659c7647" providerId="ADAL" clId="{8605D329-4A51-498E-8269-36F126310EFE}" dt="2026-08-20T12:47:48.111" v="511" actId="478"/>
          <ac:spMkLst>
            <pc:docMk/>
            <pc:sldMk cId="0" sldId="264"/>
            <ac:spMk id="9" creationId="{00000000-0000-0000-0000-000000000000}"/>
          </ac:spMkLst>
        </pc:spChg>
      </pc:sldChg>
      <pc:sldChg chg="modSp add mod">
        <pc:chgData name="Shiary, Subah" userId="675916fe-ca20-4130-a02e-4cbb659c7647" providerId="ADAL" clId="{8605D329-4A51-498E-8269-36F126310EFE}" dt="2026-08-20T12:42:19.281" v="205" actId="20577"/>
        <pc:sldMkLst>
          <pc:docMk/>
          <pc:sldMk cId="4266970217" sldId="265"/>
        </pc:sldMkLst>
        <pc:spChg chg="mod">
          <ac:chgData name="Shiary, Subah" userId="675916fe-ca20-4130-a02e-4cbb659c7647" providerId="ADAL" clId="{8605D329-4A51-498E-8269-36F126310EFE}" dt="2026-08-20T12:42:19.281" v="205" actId="20577"/>
          <ac:spMkLst>
            <pc:docMk/>
            <pc:sldMk cId="4266970217" sldId="265"/>
            <ac:spMk id="3" creationId="{2A594CB9-89E1-3F2C-B8F2-62C38CA0AB48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8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F8078"/>
                </a:solidFill>
                <a:latin typeface="Consolas"/>
              </a:rPr>
              <a:t>SAGE INTACCT -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241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 dirty="0">
                <a:solidFill>
                  <a:srgbClr val="2E2A38"/>
                </a:solidFill>
                <a:latin typeface="Georgia"/>
              </a:rPr>
              <a:t>Sage Intacct QA Modernization: AI Augmentation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9601200" cy="2498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 dirty="0">
                <a:solidFill>
                  <a:srgbClr val="6E6B7A"/>
                </a:solidFill>
                <a:latin typeface="Calibri"/>
              </a:rPr>
              <a:t>A plain summary of Claude's work on this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E9CAA"/>
                </a:solidFill>
                <a:latin typeface="Consolas"/>
              </a:rPr>
              <a:t>Client Demo  |  July 15 - August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4F8078"/>
                </a:solidFill>
                <a:latin typeface="Consolas"/>
              </a:rPr>
              <a:t>REAL TIME, HONESTLY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E2A38"/>
                </a:solidFill>
                <a:latin typeface="Georgia"/>
              </a:rPr>
              <a:t>How Long AI-Assisted QA Actually Took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E6B7A"/>
                </a:solidFill>
                <a:latin typeface="Calibri"/>
              </a:rPr>
              <a:t>Measured from real session timestamps - every dead-end, wrong turn, and correction round included, not just clean execution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1115568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057399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E6B7A"/>
                </a:solidFill>
                <a:latin typeface="Consolas"/>
              </a:rPr>
              <a:t>MANUAL vs AI - REAL HOURS SPENT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599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dirty="0">
                <a:solidFill>
                  <a:srgbClr val="2E2A38"/>
                </a:solidFill>
                <a:latin typeface="Calibri"/>
              </a:rPr>
              <a:t>Manual QA (measured)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514599"/>
            <a:ext cx="6949440" cy="384048"/>
          </a:xfrm>
          <a:prstGeom prst="roundRect">
            <a:avLst>
              <a:gd name="adj" fmla="val 30000"/>
            </a:avLst>
          </a:prstGeom>
          <a:solidFill>
            <a:srgbClr val="F5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474720" y="2514599"/>
            <a:ext cx="1985554" cy="384048"/>
          </a:xfrm>
          <a:prstGeom prst="roundRect">
            <a:avLst>
              <a:gd name="adj" fmla="val 30000"/>
            </a:avLst>
          </a:prstGeom>
          <a:solidFill>
            <a:srgbClr val="ECC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0" y="2514599"/>
            <a:ext cx="822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 dirty="0">
                <a:solidFill>
                  <a:srgbClr val="2E2A38"/>
                </a:solidFill>
                <a:latin typeface="Consolas"/>
              </a:rPr>
              <a:t>23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81527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dirty="0">
                <a:solidFill>
                  <a:srgbClr val="2E2A38"/>
                </a:solidFill>
                <a:latin typeface="Calibri"/>
              </a:rPr>
              <a:t>AI real elapsed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081527"/>
            <a:ext cx="6949440" cy="384048"/>
          </a:xfrm>
          <a:prstGeom prst="roundRect">
            <a:avLst>
              <a:gd name="adj" fmla="val 30000"/>
            </a:avLst>
          </a:prstGeom>
          <a:solidFill>
            <a:srgbClr val="F5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74720" y="3081527"/>
            <a:ext cx="6949440" cy="384048"/>
          </a:xfrm>
          <a:prstGeom prst="roundRect">
            <a:avLst>
              <a:gd name="adj" fmla="val 30000"/>
            </a:avLst>
          </a:prstGeom>
          <a:solidFill>
            <a:srgbClr val="C9B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0" y="3081527"/>
            <a:ext cx="822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 dirty="0">
                <a:solidFill>
                  <a:srgbClr val="2E2A38"/>
                </a:solidFill>
                <a:latin typeface="Consolas"/>
              </a:rPr>
              <a:t>~80.5 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31920"/>
            <a:ext cx="31089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931920"/>
            <a:ext cx="3108960" cy="38100"/>
          </a:xfrm>
          <a:prstGeom prst="rect">
            <a:avLst/>
          </a:prstGeom>
          <a:solidFill>
            <a:srgbClr val="E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" y="4078224"/>
            <a:ext cx="27797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6B7A"/>
                </a:solidFill>
                <a:latin typeface="Calibri"/>
              </a:rPr>
              <a:t>Net difference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434840"/>
            <a:ext cx="277977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2E2A38"/>
                </a:solidFill>
                <a:latin typeface="Georgia"/>
              </a:rPr>
              <a:t>+46%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5623560"/>
            <a:ext cx="27797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9E9CAA"/>
                </a:solidFill>
                <a:latin typeface="Calibri"/>
              </a:rPr>
              <a:t>AI took longer overall, once one-time tooling is included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3931920"/>
            <a:ext cx="77724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06240" y="411480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2A38"/>
                </a:solidFill>
                <a:latin typeface="Georgia"/>
              </a:rPr>
              <a:t>Why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480560"/>
            <a:ext cx="71323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50">
                <a:solidFill>
                  <a:srgbClr val="6E6B7A"/>
                </a:solidFill>
                <a:latin typeface="Calibri"/>
              </a:rPr>
              <a:t>•  Building the automation framework took real time.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50">
                <a:solidFill>
                  <a:srgbClr val="6E6B7A"/>
                </a:solidFill>
                <a:latin typeface="Calibri"/>
              </a:rPr>
              <a:t>•  That cost will not repeat on future test cycles.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50">
                <a:solidFill>
                  <a:srgbClr val="6E6B7A"/>
                </a:solidFill>
                <a:latin typeface="Calibri"/>
              </a:rPr>
              <a:t>•  Manual work has no equivalent setup cost.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50">
                <a:solidFill>
                  <a:srgbClr val="6E6B7A"/>
                </a:solidFill>
                <a:latin typeface="Calibri"/>
              </a:rPr>
              <a:t>•  Once built, AI testing and reporting run faster.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E9CAA"/>
                </a:solidFill>
                <a:latin typeface="Consolas"/>
              </a:rPr>
              <a:t>Sage Intacct QA - Claude-Assisted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E9CAA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4F8078"/>
                </a:solidFill>
                <a:latin typeface="Consolas"/>
              </a:rPr>
              <a:t>WHAT AI DID - 1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E2A38"/>
                </a:solidFill>
                <a:latin typeface="Georgia"/>
              </a:rPr>
              <a:t>AI-Assisted QA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B7A"/>
                </a:solidFill>
                <a:latin typeface="Calibri"/>
              </a:rPr>
              <a:t>Seven areas of QA work where Claude was used directly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73152" cy="2103120"/>
          </a:xfrm>
          <a:prstGeom prst="rect">
            <a:avLst/>
          </a:prstGeom>
          <a:solidFill>
            <a:srgbClr val="4F8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5798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2A38"/>
                </a:solidFill>
                <a:latin typeface="Georgia"/>
              </a:rPr>
              <a:t>1. Requirement Analysis &amp; Checklist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78608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 dirty="0">
                <a:solidFill>
                  <a:srgbClr val="6E6B7A"/>
                </a:solidFill>
                <a:latin typeface="Calibri"/>
              </a:rPr>
              <a:t>•  Analyzed requirements and prepared initial QA checklists.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 dirty="0">
                <a:solidFill>
                  <a:srgbClr val="6E6B7A"/>
                </a:solidFill>
                <a:latin typeface="Calibri"/>
              </a:rPr>
              <a:t>•  Identified areas needing additional clarification or detail.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 dirty="0">
                <a:solidFill>
                  <a:srgbClr val="6E6B7A"/>
                </a:solidFill>
                <a:latin typeface="Calibri"/>
              </a:rPr>
              <a:t>•  Generated skill files to support checklist and test-case preparation.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1168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2011680"/>
            <a:ext cx="73152" cy="2103120"/>
          </a:xfrm>
          <a:prstGeom prst="rect">
            <a:avLst/>
          </a:prstGeom>
          <a:solidFill>
            <a:srgbClr val="8A7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15798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dirty="0">
                <a:solidFill>
                  <a:srgbClr val="2E2A38"/>
                </a:solidFill>
                <a:latin typeface="Georgia"/>
              </a:rPr>
              <a:t>2. Parallel Ticket Verification Using Playwright 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78608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 dirty="0">
                <a:solidFill>
                  <a:srgbClr val="6E6B7A"/>
                </a:solidFill>
                <a:latin typeface="Calibri"/>
              </a:rPr>
              <a:t>•  Used Playwright MCP to verify multiple tickets in parallel.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 dirty="0">
                <a:solidFill>
                  <a:srgbClr val="6E6B7A"/>
                </a:solidFill>
                <a:latin typeface="Calibri"/>
              </a:rPr>
              <a:t>•  Reduced repetitive manual testing effort and improved overall verification efficiency.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29768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4297680"/>
            <a:ext cx="73152" cy="2103120"/>
          </a:xfrm>
          <a:prstGeom prst="rect">
            <a:avLst/>
          </a:prstGeom>
          <a:solidFill>
            <a:srgbClr val="C96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44398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2A38"/>
                </a:solidFill>
                <a:latin typeface="Georgia"/>
              </a:rPr>
              <a:t>3. Bug 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64608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6E6B7A"/>
                </a:solidFill>
                <a:latin typeface="Calibri"/>
              </a:rPr>
              <a:t>•  Identified and mapped relationships between parent and child tickets.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6E6B7A"/>
                </a:solidFill>
                <a:latin typeface="Calibri"/>
              </a:rPr>
              <a:t>•  Made it easier to track related issues across the backlog.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29768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4297680"/>
            <a:ext cx="73152" cy="2103120"/>
          </a:xfrm>
          <a:prstGeom prst="rect">
            <a:avLst/>
          </a:prstGeom>
          <a:solidFill>
            <a:srgbClr val="4F8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444398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dirty="0">
                <a:solidFill>
                  <a:srgbClr val="2E2A38"/>
                </a:solidFill>
                <a:latin typeface="Georgia"/>
              </a:rPr>
              <a:t>4. Bug Root Cause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864608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6E6B7A"/>
                </a:solidFill>
                <a:latin typeface="Calibri"/>
              </a:rPr>
              <a:t>•  Identified probable root causes of reported issues.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6E6B7A"/>
                </a:solidFill>
                <a:latin typeface="Calibri"/>
              </a:rPr>
              <a:t>•  Generated fix suggestions to accelerate initial investigation.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E9CAA"/>
                </a:solidFill>
                <a:latin typeface="Consolas"/>
              </a:rPr>
              <a:t>Sage Intacct QA - Claude-Assisted 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E9CAA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4F8078"/>
                </a:solidFill>
                <a:latin typeface="Consolas"/>
              </a:rPr>
              <a:t>WHAT AI DID - 2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E2A38"/>
                </a:solidFill>
                <a:latin typeface="Georgia"/>
              </a:rPr>
              <a:t>AI-Assisted QA Activities (continued)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111556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73152" cy="1280160"/>
          </a:xfrm>
          <a:prstGeom prst="rect">
            <a:avLst/>
          </a:prstGeom>
          <a:solidFill>
            <a:srgbClr val="4F8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E2A38"/>
                </a:solidFill>
                <a:latin typeface="Georgia"/>
              </a:rPr>
              <a:t>5. Bug Report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21992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6E6B7A"/>
                </a:solidFill>
                <a:latin typeface="Calibri"/>
              </a:rPr>
              <a:t>•  Generated and refined bug reports.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6E6B7A"/>
                </a:solidFill>
                <a:latin typeface="Calibri"/>
              </a:rPr>
              <a:t>•  Reduced the time needed for structuring, formatting, and polishing reports.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00400"/>
            <a:ext cx="111556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3200400"/>
            <a:ext cx="73152" cy="1280160"/>
          </a:xfrm>
          <a:prstGeom prst="rect">
            <a:avLst/>
          </a:prstGeom>
          <a:solidFill>
            <a:srgbClr val="8A7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E2A38"/>
                </a:solidFill>
                <a:latin typeface="Georgia"/>
              </a:rPr>
              <a:t>6. UI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30752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6E6B7A"/>
                </a:solidFill>
                <a:latin typeface="Calibri"/>
              </a:rPr>
              <a:t>•  Explored the system and generated UI automation scripts.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6E6B7A"/>
                </a:solidFill>
                <a:latin typeface="Calibri"/>
              </a:rPr>
              <a:t>•  Built a Playwright + Python automation framework for automated test execution and 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709160"/>
            <a:ext cx="111556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4709160"/>
            <a:ext cx="73152" cy="1280160"/>
          </a:xfrm>
          <a:prstGeom prst="rect">
            <a:avLst/>
          </a:prstGeom>
          <a:solidFill>
            <a:srgbClr val="C96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84632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E2A38"/>
                </a:solidFill>
                <a:latin typeface="Georgia"/>
              </a:rPr>
              <a:t>7. BDD Test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39512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6E6B7A"/>
                </a:solidFill>
                <a:latin typeface="Calibri"/>
              </a:rPr>
              <a:t>•  Generated BDD test scenarios directly from requirements.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6E6B7A"/>
                </a:solidFill>
                <a:latin typeface="Calibri"/>
              </a:rPr>
              <a:t>•  Significantly reduced test-design effort; manual work was mostly limited to polishing checklists and validating AI-generated scenarios for accuracy and coverage.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E9CAA"/>
                </a:solidFill>
                <a:latin typeface="Consolas"/>
              </a:rPr>
              <a:t>Sage Intacct QA - Claude-Assisted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E9CAA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4F8078"/>
                </a:solidFill>
                <a:latin typeface="Consolas"/>
              </a:rPr>
              <a:t>PROJECT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>
                <a:solidFill>
                  <a:srgbClr val="2E2A38"/>
                </a:solidFill>
                <a:latin typeface="Georgia"/>
              </a:rPr>
              <a:t>Five Weeks of AI-Assisted QA, in Four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2651760" cy="38100"/>
          </a:xfrm>
          <a:prstGeom prst="rect">
            <a:avLst/>
          </a:prstGeom>
          <a:solidFill>
            <a:srgbClr val="4F8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975104"/>
            <a:ext cx="23225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6B7A"/>
                </a:solidFill>
                <a:latin typeface="Calibri"/>
              </a:rPr>
              <a:t>Modules covered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232257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E2A38"/>
                </a:solidFill>
                <a:latin typeface="Georgia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063240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dirty="0">
                <a:solidFill>
                  <a:srgbClr val="9E9CAA"/>
                </a:solidFill>
                <a:latin typeface="Calibri"/>
              </a:rPr>
              <a:t>Loan + Depository management, end to 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82880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37560" y="1828800"/>
            <a:ext cx="2651760" cy="38100"/>
          </a:xfrm>
          <a:prstGeom prst="rect">
            <a:avLst/>
          </a:prstGeom>
          <a:solidFill>
            <a:srgbClr val="8A7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2152" y="1975104"/>
            <a:ext cx="23225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6B7A"/>
                </a:solidFill>
                <a:latin typeface="Calibri"/>
              </a:rPr>
              <a:t>Test cases executed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331720"/>
            <a:ext cx="232257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E2A38"/>
                </a:solidFill>
                <a:latin typeface="Georgia"/>
              </a:rPr>
              <a:t>392+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3063240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9E9CAA"/>
                </a:solidFill>
                <a:latin typeface="Calibri"/>
              </a:rPr>
              <a:t>Live, with a result recorded for every 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2651760" cy="38100"/>
          </a:xfrm>
          <a:prstGeom prst="rect">
            <a:avLst/>
          </a:prstGeom>
          <a:solidFill>
            <a:srgbClr val="C96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1975104"/>
            <a:ext cx="23225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6B7A"/>
                </a:solidFill>
                <a:latin typeface="Calibri"/>
              </a:rPr>
              <a:t>Defects found &amp; filed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331720"/>
            <a:ext cx="232257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3000" b="1" dirty="0">
                <a:solidFill>
                  <a:srgbClr val="2E2A38"/>
                </a:solidFill>
                <a:latin typeface="Georgia"/>
              </a:rPr>
              <a:t>120</a:t>
            </a:r>
            <a:r>
              <a:rPr sz="3000" b="1" i="0" dirty="0">
                <a:solidFill>
                  <a:srgbClr val="2E2A38"/>
                </a:solidFill>
                <a:latin typeface="Georgia"/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3063240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9E9CAA"/>
                </a:solidFill>
                <a:latin typeface="Calibri"/>
              </a:rPr>
              <a:t>Reported to Jira with evidence attached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82880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06840" y="1828800"/>
            <a:ext cx="2651760" cy="38100"/>
          </a:xfrm>
          <a:prstGeom prst="rect">
            <a:avLst/>
          </a:prstGeom>
          <a:solidFill>
            <a:srgbClr val="4F8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71432" y="1975104"/>
            <a:ext cx="23225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6B7A"/>
                </a:solidFill>
                <a:latin typeface="Calibri"/>
              </a:rPr>
              <a:t>Pass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2331720"/>
            <a:ext cx="232257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E2A38"/>
                </a:solidFill>
                <a:latin typeface="Georgia"/>
              </a:rPr>
              <a:t>87%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3063240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9E9CAA"/>
                </a:solidFill>
                <a:latin typeface="Calibri"/>
              </a:rPr>
              <a:t>Of all cases executed to date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977639"/>
            <a:ext cx="1115568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2A38"/>
                </a:solidFill>
                <a:latin typeface="Georgia"/>
              </a:rPr>
              <a:t>What this means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6177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6E6B7A"/>
                </a:solidFill>
                <a:latin typeface="Calibri"/>
              </a:rPr>
              <a:t>•  Claude has worked as an active member of the QA team, not just a tool - reading requirements, designing tests, running them, and writing up defects.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6E6B7A"/>
                </a:solidFill>
                <a:latin typeface="Calibri"/>
              </a:rPr>
              <a:t>•  This slide shows the volume completed. The next slides explain what was covered, and what still needs to happen.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E9CAA"/>
                </a:solidFill>
                <a:latin typeface="Consolas"/>
              </a:rPr>
              <a:t>Sage Intacct QA - Claude-Assisted 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E9CAA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4F8078"/>
                </a:solidFill>
                <a:latin typeface="Consolas"/>
              </a:rPr>
              <a:t>HONEST ACCOUNT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E2A38"/>
                </a:solidFill>
                <a:latin typeface="Georgia"/>
              </a:rPr>
              <a:t>What AI Could Not 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111556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73152" cy="1234440"/>
          </a:xfrm>
          <a:prstGeom prst="rect">
            <a:avLst/>
          </a:prstGeom>
          <a:solidFill>
            <a:srgbClr val="B8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37944"/>
            <a:ext cx="10515600" cy="243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500" b="1" dirty="0">
                <a:solidFill>
                  <a:srgbClr val="2E2A38"/>
                </a:solidFill>
                <a:latin typeface="Georgia"/>
              </a:rPr>
              <a:t>Execute tests which need parallel check in UI, API and DB</a:t>
            </a:r>
            <a:endParaRPr sz="1500" b="1" i="0" dirty="0">
              <a:solidFill>
                <a:srgbClr val="2E2A38"/>
              </a:solidFill>
              <a:latin typeface="Georgia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3108960"/>
            <a:ext cx="111556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3108960"/>
            <a:ext cx="73152" cy="1234440"/>
          </a:xfrm>
          <a:prstGeom prst="rect">
            <a:avLst/>
          </a:prstGeom>
          <a:solidFill>
            <a:srgbClr val="B8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255264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 dirty="0">
                <a:solidFill>
                  <a:srgbClr val="2E2A38"/>
                </a:solidFill>
                <a:latin typeface="Georgia"/>
              </a:rPr>
              <a:t>Test two tickets with no working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3931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dirty="0">
                <a:solidFill>
                  <a:srgbClr val="6E6B7A"/>
                </a:solidFill>
                <a:latin typeface="Calibri"/>
              </a:rPr>
              <a:t>IADSSL-1748 and IADSSL-1749 pointed to sandboxes that were unreachable or misconfigured. Rather than guess, Claude reported this clearly and stopped, instead of producing a result that could not be trusted.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26280"/>
            <a:ext cx="111556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4526280"/>
            <a:ext cx="73152" cy="1234440"/>
          </a:xfrm>
          <a:prstGeom prst="rect">
            <a:avLst/>
          </a:prstGeom>
          <a:solidFill>
            <a:srgbClr val="B8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672584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 dirty="0">
                <a:solidFill>
                  <a:srgbClr val="2E2A38"/>
                </a:solidFill>
                <a:latin typeface="Georgia"/>
              </a:rPr>
              <a:t>Post one finished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5663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E6B7A"/>
                </a:solidFill>
                <a:latin typeface="Calibri"/>
              </a:rPr>
              <a:t>The Loan Reports defect write-up (7 issues, evidence attached) was fully prepared but could not be posted to Jira because API access was not available at the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E9CAA"/>
                </a:solidFill>
                <a:latin typeface="Consolas"/>
              </a:rPr>
              <a:t>Sage Intacct QA - Claude-Assisted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E9CAA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87CC48-32C3-6B1F-9C5C-BDEEA3899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2C57B0-FFD0-5DB9-5E7B-FEAA88C1D9E9}"/>
              </a:ext>
            </a:extLst>
          </p:cNvPr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dirty="0">
                <a:solidFill>
                  <a:srgbClr val="4F8078"/>
                </a:solidFill>
                <a:latin typeface="Consolas"/>
              </a:rPr>
              <a:t>HONEST ACCOUNT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594CB9-89E1-3F2C-B8F2-62C38CA0AB48}"/>
              </a:ext>
            </a:extLst>
          </p:cNvPr>
          <p:cNvSpPr txBox="1"/>
          <p:nvPr/>
        </p:nvSpPr>
        <p:spPr>
          <a:xfrm>
            <a:off x="502920" y="658368"/>
            <a:ext cx="10515600" cy="487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3000" b="1" i="0" dirty="0">
                <a:solidFill>
                  <a:srgbClr val="2E2A38"/>
                </a:solidFill>
                <a:latin typeface="Georgia"/>
              </a:rPr>
              <a:t>Improvement scope</a:t>
            </a:r>
            <a:endParaRPr sz="3000" b="1" i="0" dirty="0">
              <a:solidFill>
                <a:srgbClr val="2E2A38"/>
              </a:solidFill>
              <a:latin typeface="Georgia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DD161CF-AC78-4FB4-2141-FFA2C91679C0}"/>
              </a:ext>
            </a:extLst>
          </p:cNvPr>
          <p:cNvSpPr/>
          <p:nvPr/>
        </p:nvSpPr>
        <p:spPr>
          <a:xfrm>
            <a:off x="502920" y="1691640"/>
            <a:ext cx="111556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A447CA-A551-B115-F9A2-6C1C93C2E15C}"/>
              </a:ext>
            </a:extLst>
          </p:cNvPr>
          <p:cNvSpPr/>
          <p:nvPr/>
        </p:nvSpPr>
        <p:spPr>
          <a:xfrm>
            <a:off x="502920" y="1691640"/>
            <a:ext cx="73152" cy="1234440"/>
          </a:xfrm>
          <a:prstGeom prst="rect">
            <a:avLst/>
          </a:prstGeom>
          <a:solidFill>
            <a:srgbClr val="B8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6F3F34-AA40-BDB7-ACA5-3062B32A8F4E}"/>
              </a:ext>
            </a:extLst>
          </p:cNvPr>
          <p:cNvSpPr txBox="1"/>
          <p:nvPr/>
        </p:nvSpPr>
        <p:spPr>
          <a:xfrm>
            <a:off x="822960" y="1837944"/>
            <a:ext cx="10515600" cy="243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500" b="1" dirty="0">
                <a:solidFill>
                  <a:srgbClr val="2E2A38"/>
                </a:solidFill>
                <a:latin typeface="Georgia"/>
              </a:rPr>
              <a:t>Execute tests which need parallel check in UI, API and DB</a:t>
            </a:r>
            <a:endParaRPr sz="1500" b="1" i="0" dirty="0">
              <a:solidFill>
                <a:srgbClr val="2E2A38"/>
              </a:solidFill>
              <a:latin typeface="Georgia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FA73204-BF69-3FAE-3AB9-222AFBA04F3B}"/>
              </a:ext>
            </a:extLst>
          </p:cNvPr>
          <p:cNvSpPr/>
          <p:nvPr/>
        </p:nvSpPr>
        <p:spPr>
          <a:xfrm>
            <a:off x="502920" y="3108960"/>
            <a:ext cx="111556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40420E-A9AC-3D2C-A676-4B3C499BC6A9}"/>
              </a:ext>
            </a:extLst>
          </p:cNvPr>
          <p:cNvSpPr/>
          <p:nvPr/>
        </p:nvSpPr>
        <p:spPr>
          <a:xfrm>
            <a:off x="502920" y="3108960"/>
            <a:ext cx="73152" cy="1234440"/>
          </a:xfrm>
          <a:prstGeom prst="rect">
            <a:avLst/>
          </a:prstGeom>
          <a:solidFill>
            <a:srgbClr val="B8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563327-42CD-8A2C-1358-46A75997BDE2}"/>
              </a:ext>
            </a:extLst>
          </p:cNvPr>
          <p:cNvSpPr txBox="1"/>
          <p:nvPr/>
        </p:nvSpPr>
        <p:spPr>
          <a:xfrm>
            <a:off x="822960" y="3255264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 dirty="0">
                <a:solidFill>
                  <a:srgbClr val="2E2A38"/>
                </a:solidFill>
                <a:latin typeface="Georgia"/>
              </a:rPr>
              <a:t>Test two tickets with no working environment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B07286-FD2C-1C15-FBDA-4FC2A51A9ECD}"/>
              </a:ext>
            </a:extLst>
          </p:cNvPr>
          <p:cNvSpPr txBox="1"/>
          <p:nvPr/>
        </p:nvSpPr>
        <p:spPr>
          <a:xfrm>
            <a:off x="822960" y="363931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dirty="0">
                <a:solidFill>
                  <a:srgbClr val="6E6B7A"/>
                </a:solidFill>
                <a:latin typeface="Calibri"/>
              </a:rPr>
              <a:t>IADSSL-1748 and IADSSL-1749 pointed to sandboxes that were unreachable or misconfigured. Rather than guess, Claude reported this clearly and stopped, instead of producing a result that could not be trusted.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BC580ED-4451-75A1-E0B8-9F894F0A178E}"/>
              </a:ext>
            </a:extLst>
          </p:cNvPr>
          <p:cNvSpPr/>
          <p:nvPr/>
        </p:nvSpPr>
        <p:spPr>
          <a:xfrm>
            <a:off x="502920" y="4526280"/>
            <a:ext cx="111556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450918-797F-64A8-838F-C706EA967303}"/>
              </a:ext>
            </a:extLst>
          </p:cNvPr>
          <p:cNvSpPr/>
          <p:nvPr/>
        </p:nvSpPr>
        <p:spPr>
          <a:xfrm>
            <a:off x="502920" y="4526280"/>
            <a:ext cx="73152" cy="1234440"/>
          </a:xfrm>
          <a:prstGeom prst="rect">
            <a:avLst/>
          </a:prstGeom>
          <a:solidFill>
            <a:srgbClr val="B8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6BDA2A-055C-DDE2-E072-2325F03EE628}"/>
              </a:ext>
            </a:extLst>
          </p:cNvPr>
          <p:cNvSpPr txBox="1"/>
          <p:nvPr/>
        </p:nvSpPr>
        <p:spPr>
          <a:xfrm>
            <a:off x="822960" y="4672584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 dirty="0">
                <a:solidFill>
                  <a:srgbClr val="2E2A38"/>
                </a:solidFill>
                <a:latin typeface="Georgia"/>
              </a:rPr>
              <a:t>Post one finished report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8DACBE-F612-2188-9904-A19DFD9BA43B}"/>
              </a:ext>
            </a:extLst>
          </p:cNvPr>
          <p:cNvSpPr txBox="1"/>
          <p:nvPr/>
        </p:nvSpPr>
        <p:spPr>
          <a:xfrm>
            <a:off x="822960" y="505663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E6B7A"/>
                </a:solidFill>
                <a:latin typeface="Calibri"/>
              </a:rPr>
              <a:t>The Loan Reports defect write-up (7 issues, evidence attached) was fully prepared but could not be posted to Jira because API access was not available at the time.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001C40-9704-6516-F4CC-242EBD4BA39C}"/>
              </a:ext>
            </a:extLst>
          </p:cNvPr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E9CAA"/>
                </a:solidFill>
                <a:latin typeface="Consolas"/>
              </a:rPr>
              <a:t>Sage Intacct QA - Claude-Assisted Delivery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0E44BB-4037-B4EB-FE9C-0D4A4C8A74EC}"/>
              </a:ext>
            </a:extLst>
          </p:cNvPr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E9CAA"/>
                </a:solidFill>
                <a:latin typeface="Consola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66970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4F8078"/>
                </a:solidFill>
                <a:latin typeface="Consolas"/>
              </a:rPr>
              <a:t>HONEST ACCOUNT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E2A38"/>
                </a:solidFill>
                <a:latin typeface="Georgia"/>
              </a:rPr>
              <a:t>What Slowed Things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B7A"/>
                </a:solidFill>
                <a:latin typeface="Calibri"/>
              </a:rPr>
              <a:t>Two recurring, external issues - not something AI or the test design could fix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5394960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5394960" cy="594360"/>
          </a:xfrm>
          <a:prstGeom prst="roundRect">
            <a:avLst>
              <a:gd name="adj" fmla="val 4000"/>
            </a:avLst>
          </a:prstGeom>
          <a:solidFill>
            <a:srgbClr val="FB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 dirty="0">
                <a:solidFill>
                  <a:srgbClr val="B8722B"/>
                </a:solidFill>
                <a:latin typeface="Georgia"/>
              </a:rPr>
              <a:t>A Broken Test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846320" cy="1272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lnSpc>
                <a:spcPct val="120000"/>
              </a:lnSpc>
              <a:spcAft>
                <a:spcPts val="1400"/>
              </a:spcAft>
              <a:buFontTx/>
              <a:buChar char="-"/>
            </a:pPr>
            <a:r>
              <a:rPr lang="en-US" sz="1200" dirty="0">
                <a:solidFill>
                  <a:srgbClr val="2E2A38"/>
                </a:solidFill>
                <a:latin typeface="Calibri"/>
              </a:rPr>
              <a:t>Needed human intervention (scope missed by AI, feedback needed)</a:t>
            </a:r>
            <a:br>
              <a:rPr lang="en-US" sz="1200" dirty="0">
                <a:solidFill>
                  <a:srgbClr val="2E2A38"/>
                </a:solidFill>
                <a:latin typeface="Calibri"/>
              </a:rPr>
            </a:br>
            <a:r>
              <a:rPr lang="en-US" sz="1200" dirty="0">
                <a:solidFill>
                  <a:srgbClr val="2E2A38"/>
                </a:solidFill>
                <a:latin typeface="Calibri"/>
              </a:rPr>
              <a:t>- When automation script is not there, or test case file is not shared</a:t>
            </a:r>
            <a:r>
              <a:rPr lang="en-US" sz="1200">
                <a:solidFill>
                  <a:srgbClr val="2E2A38"/>
                </a:solidFill>
                <a:latin typeface="Calibri"/>
              </a:rPr>
              <a:t>, it takes </a:t>
            </a:r>
            <a:r>
              <a:rPr lang="en-US" sz="1200" dirty="0">
                <a:solidFill>
                  <a:srgbClr val="2E2A38"/>
                </a:solidFill>
                <a:latin typeface="Calibri"/>
              </a:rPr>
              <a:t>time to explore and test</a:t>
            </a:r>
            <a:br>
              <a:rPr lang="en-US" sz="1200" dirty="0">
                <a:solidFill>
                  <a:srgbClr val="2E2A38"/>
                </a:solidFill>
                <a:latin typeface="Calibri"/>
              </a:rPr>
            </a:br>
            <a:r>
              <a:rPr lang="en-US" sz="1200" dirty="0">
                <a:solidFill>
                  <a:srgbClr val="2E2A38"/>
                </a:solidFill>
                <a:latin typeface="Calibri"/>
              </a:rPr>
              <a:t>- 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endParaRPr sz="1200" dirty="0">
              <a:solidFill>
                <a:srgbClr val="2E2A38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394960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63640" y="1965960"/>
            <a:ext cx="5394960" cy="594360"/>
          </a:xfrm>
          <a:prstGeom prst="roundRect">
            <a:avLst>
              <a:gd name="adj" fmla="val 4000"/>
            </a:avLst>
          </a:prstGeom>
          <a:solidFill>
            <a:srgbClr val="FB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12140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 dirty="0">
                <a:solidFill>
                  <a:srgbClr val="B8722B"/>
                </a:solidFill>
                <a:latin typeface="Georgia"/>
              </a:rPr>
              <a:t>Shared Test 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743200"/>
            <a:ext cx="48463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200" dirty="0">
                <a:solidFill>
                  <a:srgbClr val="2E2A38"/>
                </a:solidFill>
                <a:latin typeface="Calibri"/>
              </a:rPr>
              <a:t>•  The test environment allows only one active session per login.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200" dirty="0">
                <a:solidFill>
                  <a:srgbClr val="2E2A38"/>
                </a:solidFill>
                <a:latin typeface="Calibri"/>
              </a:rPr>
              <a:t>•  When another engineer logged in with the same account mid-task, it force-logged-out the AI session (and vice versa).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200" dirty="0">
                <a:solidFill>
                  <a:srgbClr val="2E2A38"/>
                </a:solidFill>
                <a:latin typeface="Calibri"/>
              </a:rPr>
              <a:t>•  A shared test-account limitation, confirmed and worked around, but it cost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E9CAA"/>
                </a:solidFill>
                <a:latin typeface="Consolas"/>
              </a:rPr>
              <a:t>Sage Intacct QA - Claude-Assisted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E9CAA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4F8078"/>
                </a:solidFill>
                <a:latin typeface="Consolas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487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3000" b="1" i="0" dirty="0">
                <a:solidFill>
                  <a:srgbClr val="2E2A38"/>
                </a:solidFill>
                <a:latin typeface="Georgia"/>
              </a:rPr>
              <a:t>Future plan</a:t>
            </a:r>
            <a:endParaRPr sz="3000" b="1" i="0" dirty="0">
              <a:solidFill>
                <a:srgbClr val="2E2A38"/>
              </a:solidFill>
              <a:latin typeface="Georgi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11155680" cy="1188720"/>
          </a:xfrm>
          <a:prstGeom prst="roundRect">
            <a:avLst>
              <a:gd name="adj" fmla="val 5000"/>
            </a:avLst>
          </a:prstGeom>
          <a:solidFill>
            <a:srgbClr val="E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860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 dirty="0">
                <a:solidFill>
                  <a:srgbClr val="2E2A38"/>
                </a:solidFill>
                <a:latin typeface="Georgia"/>
              </a:rPr>
              <a:t>Project needs multi environment involvement – UI, API, DB. That is currently we are working on , but fully not done yet.</a:t>
            </a:r>
            <a:br>
              <a:rPr lang="en-US" sz="1600" b="1" i="0" dirty="0">
                <a:solidFill>
                  <a:srgbClr val="2E2A38"/>
                </a:solidFill>
                <a:latin typeface="Georgia"/>
              </a:rPr>
            </a:br>
            <a:r>
              <a:rPr lang="en-US" sz="1600" b="1" i="0" dirty="0">
                <a:solidFill>
                  <a:srgbClr val="2E2A38"/>
                </a:solidFill>
                <a:latin typeface="Georgia"/>
              </a:rPr>
              <a:t>we are planning to implement a system where this can be done using AI</a:t>
            </a:r>
            <a:endParaRPr sz="1600" b="1" i="0" dirty="0">
              <a:solidFill>
                <a:srgbClr val="2E2A38"/>
              </a:solidFill>
              <a:latin typeface="Georgi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E9CAA"/>
                </a:solidFill>
                <a:latin typeface="Consolas"/>
              </a:rPr>
              <a:t>Sage Intacct QA - Claude-Assisted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E9CAA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905</Words>
  <Application>Microsoft Office PowerPoint</Application>
  <PresentationFormat>Widescreen</PresentationFormat>
  <Paragraphs>106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Shiary, Subah</cp:lastModifiedBy>
  <cp:revision>1</cp:revision>
  <dcterms:created xsi:type="dcterms:W3CDTF">2013-01-27T09:14:16Z</dcterms:created>
  <dcterms:modified xsi:type="dcterms:W3CDTF">2026-08-20T12:50:50Z</dcterms:modified>
  <cp:category/>
</cp:coreProperties>
</file>